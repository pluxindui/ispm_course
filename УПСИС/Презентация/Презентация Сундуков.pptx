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318" r:id="rId7"/>
    <p:sldId id="275" r:id="rId8"/>
    <p:sldId id="262" r:id="rId9"/>
    <p:sldId id="321" r:id="rId10"/>
    <p:sldId id="323" r:id="rId11"/>
    <p:sldId id="267" r:id="rId12"/>
    <p:sldId id="268" r:id="rId13"/>
    <p:sldId id="31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649A8-3ADF-4919-BCDF-FC2B8C6D828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65D01-C0EA-4AC7-9B3B-E0E027DD3D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37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AC318-8254-46BA-A728-CE0D5CF132E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35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10E1F35-929D-765C-467A-4EB9C76F5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E474665B-C0FE-7AD0-3001-5D5CE00B6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E811377-9B6C-0621-C336-A07656D4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D9DF1C5-15B5-3BED-A5A6-897E29ED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D2253FB-F2D2-4556-2549-707131B1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95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3E3589C-E88D-5415-008A-BAD82F5E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87F7949-12AE-C460-548B-5416E36E5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A2E037B-AC54-CBCA-07A2-466171EA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4900144-6504-A1C1-0CE8-BA6058A1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386F3982-C7AC-F6CA-9A6E-388C9C10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308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6A5DD-A6E9-AA23-84B0-0CE55FAED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75D2D1A-15CC-5616-E7EA-36730B185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7A55851A-529A-125A-406C-69FA540E4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CBFCC96-A979-6E9E-AF83-5D34FD1C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F8B0D22-E9DF-B5B3-E6EB-1B0D5142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38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41B6845-1F19-D333-FFEE-8C6E666D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E251E57-5DB3-E4C0-FA5E-4BCE3E767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ED838BE-D638-83E0-FE89-130BEAA1B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850B08E-CCAA-B23D-75EE-8B4988038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B582C391-7EC4-3C50-5FB4-206AC91FB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B199268-E9E0-7F4B-7408-622EABC9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07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F2796DC-6363-DD7D-85D5-3D5224ADD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72377E9-E934-2755-B697-A61684ABE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0CB6FE72-480B-064E-924C-C7A001F5D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C464E76-7015-B4B1-BBF3-F10FAFA6D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541AFABB-E161-F61F-A497-38C38414B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36ADD54E-A2A6-AF63-3CDF-0C4C834C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AFC061BD-3AEA-E6B7-A8D9-FF8BA849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4F5EA164-1A57-8140-5C9A-4E695410B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23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F897F25-E0BD-4CAD-FFBB-28FE0F73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7D36750D-52D7-0527-B1EE-422224E5D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B56D0125-5DDD-B249-3206-99A51CA3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36A090A2-27EB-8DB1-AAE2-868BE2C6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119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F94AC1DA-48A2-1795-F55C-173ABC29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3A13315E-43CD-0798-67F6-07FA54B4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CF5A906-0A30-27B9-AE98-745B580B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23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08BBD47-7EE7-3107-688E-0A036A7B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C19A806-5008-DE6A-8A7B-E181228C3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4707038-0F9F-320A-FE75-91B6F9F80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693B28E-0840-24FD-78BA-829BAAE7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4756E88D-2176-925A-DFCE-28E50201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386B644E-E0C4-DAE2-DFF4-4EF50E6F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99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F99E9D3-1D8F-3F17-6C3B-2CFAD5D7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63567042-1BA2-6D2E-92D2-F12F4FED3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1635B05F-FCAA-CD25-D29E-565EC37B6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84FAEC6E-E237-0743-FD54-F60775F2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DB6BA437-0BC0-2260-D389-5EB9BB08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BD90A50A-AC4D-BC6A-B8EE-644408568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01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A4D1FBC-DCA3-8A45-5EA9-81D45944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ADFE4B4A-1736-E23D-48AD-B56CB3A91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23A1CFF-C4CA-8F77-7F55-3FA33946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C1A4BA0-865B-258F-0C89-4CC55006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1205155-1B78-924A-9EF4-8D632F2E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68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F2C3D87B-7DDE-8736-2BFC-DC3C36C6D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69A7D597-AB26-FD20-696B-4E9058319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98279B1-ECE4-4437-DBB3-44A327344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A17ECC4-0C89-4BC0-8D68-ED9308C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B3835DD-3440-F9F4-2F29-20F60192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86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7C02E22-4762-28A6-19B4-EABD3133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0C6122F-A985-01C4-F064-AEBCE5EE7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A09FF9A-71B7-F89E-3EB0-7A47BBE93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62B72-092A-4920-97DB-E512F709D44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F436BBA-7FB4-9D0B-3194-E9A2417BA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2A42B97-3479-004B-38B8-E59F96D29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4F493-354B-4BAB-8F5E-B4428D4B2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7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93"/>
            <a:ext cx="12192000" cy="685800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2493"/>
            <a:ext cx="12192000" cy="1323219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/>
                <a:cs typeface="Times New Roman" panose="02020603050405020304"/>
              </a:rPr>
              <a:t>МИНИСТЕРСТВО</a:t>
            </a:r>
            <a:r>
              <a:rPr lang="ru-RU" sz="2000" dirty="0">
                <a:latin typeface="Times New Roman" panose="02020603050405020304"/>
                <a:ea typeface="+mj-lt"/>
                <a:cs typeface="+mj-lt"/>
              </a:rPr>
              <a:t> НАУКИ И ВЫСШЕГО ОБРАЗОВАНИЯ</a:t>
            </a:r>
            <a:endParaRPr lang="ru-RU" sz="20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ru-RU" sz="2000" dirty="0">
                <a:latin typeface="Times New Roman" panose="02020603050405020304"/>
                <a:ea typeface="+mj-lt"/>
                <a:cs typeface="+mj-lt"/>
              </a:rPr>
              <a:t>РОССИЙСКОЙ ФЕДЕРАЦИИ</a:t>
            </a:r>
            <a:br>
              <a:rPr lang="ru-RU" sz="2000" dirty="0">
                <a:latin typeface="Times New Roman" panose="02020603050405020304"/>
                <a:ea typeface="+mj-lt"/>
                <a:cs typeface="+mj-lt"/>
              </a:rPr>
            </a:br>
            <a:r>
              <a:rPr lang="ru-RU" sz="2000" dirty="0">
                <a:latin typeface="Times New Roman" panose="02020603050405020304"/>
                <a:ea typeface="+mj-lt"/>
                <a:cs typeface="+mj-lt"/>
              </a:rPr>
              <a:t> </a:t>
            </a:r>
            <a:endParaRPr lang="ru-RU" sz="20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ru-RU" sz="2000" dirty="0">
                <a:latin typeface="Times New Roman" panose="02020603050405020304"/>
                <a:ea typeface="+mj-lt"/>
                <a:cs typeface="+mj-lt"/>
              </a:rPr>
              <a:t>МОСКОВСКИЙ ГОСУДАРСТВЕННЫЙ УНИВЕРСИТЕТ ГЕОДЕЗИИ И КАРТОГРАФИИ (МИИГАИК)</a:t>
            </a:r>
            <a:endParaRPr lang="ru-RU"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61709" y="4042064"/>
            <a:ext cx="6830291" cy="206779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algn="r"/>
            <a:r>
              <a:rPr lang="ru-RU" sz="6400" dirty="0">
                <a:latin typeface="Times New Roman" panose="02020603050405020304"/>
                <a:ea typeface="+mn-lt"/>
                <a:cs typeface="+mn-lt"/>
              </a:rPr>
              <a:t>Научный руководитель: </a:t>
            </a:r>
            <a:endParaRPr lang="ru-RU" sz="6400" dirty="0">
              <a:latin typeface="Times New Roman" panose="02020603050405020304"/>
              <a:cs typeface="Times New Roman" panose="02020603050405020304"/>
            </a:endParaRPr>
          </a:p>
          <a:p>
            <a:pPr algn="r"/>
            <a:r>
              <a:rPr lang="en-US" sz="6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преподаватель</a:t>
            </a:r>
            <a:r>
              <a:rPr lang="en-US" sz="6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кафедры</a:t>
            </a:r>
            <a:r>
              <a:rPr lang="en-US" sz="6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r"/>
            <a:r>
              <a:rPr lang="en-US" sz="6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информати</a:t>
            </a:r>
            <a:r>
              <a:rPr lang="en-US" sz="6400" dirty="0" err="1">
                <a:latin typeface="Times New Roman"/>
                <a:ea typeface="Times New Roman"/>
                <a:cs typeface="Times New Roman"/>
                <a:sym typeface="Times New Roman"/>
              </a:rPr>
              <a:t>ки</a:t>
            </a:r>
            <a:r>
              <a:rPr lang="en-US" sz="6400" dirty="0"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6400" dirty="0" err="1">
                <a:latin typeface="Times New Roman"/>
                <a:ea typeface="Times New Roman"/>
                <a:cs typeface="Times New Roman"/>
                <a:sym typeface="Times New Roman"/>
              </a:rPr>
              <a:t>геоинформационных</a:t>
            </a:r>
            <a:r>
              <a:rPr lang="en-US" sz="6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r"/>
            <a:r>
              <a:rPr lang="ru-RU" sz="6400" dirty="0">
                <a:latin typeface="Times New Roman"/>
                <a:ea typeface="Times New Roman"/>
                <a:cs typeface="Times New Roman"/>
                <a:sym typeface="Times New Roman"/>
              </a:rPr>
              <a:t>т</a:t>
            </a:r>
            <a:r>
              <a:rPr lang="en-US" sz="64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ехнологий</a:t>
            </a:r>
            <a:r>
              <a:rPr lang="ru-RU" sz="6400" dirty="0" smtClean="0">
                <a:latin typeface="Times New Roman"/>
                <a:ea typeface="Times New Roman"/>
                <a:cs typeface="Times New Roman"/>
                <a:sym typeface="Times New Roman"/>
              </a:rPr>
              <a:t>, кандидат технических наук</a:t>
            </a:r>
            <a:endParaRPr lang="en-US" sz="6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r"/>
            <a:r>
              <a:rPr lang="ru-RU" sz="6400" dirty="0" smtClean="0">
                <a:latin typeface="Times New Roman" panose="02020603050405020304"/>
                <a:cs typeface="Times New Roman" panose="02020603050405020304"/>
              </a:rPr>
              <a:t>Орлов Павел Юрьевич</a:t>
            </a:r>
            <a:endParaRPr lang="ru-RU" sz="6400" dirty="0">
              <a:latin typeface="Times New Roman" panose="02020603050405020304"/>
              <a:cs typeface="Times New Roman" panose="02020603050405020304"/>
            </a:endParaRPr>
          </a:p>
          <a:p>
            <a:pPr algn="r"/>
            <a:endParaRPr lang="ru-RU" sz="6400" dirty="0">
              <a:latin typeface="Times New Roman" panose="02020603050405020304"/>
              <a:cs typeface="Times New Roman" panose="02020603050405020304"/>
            </a:endParaRPr>
          </a:p>
          <a:p>
            <a:pPr algn="r"/>
            <a:r>
              <a:rPr lang="ru-RU" sz="6400" dirty="0">
                <a:latin typeface="Times New Roman" panose="02020603050405020304"/>
                <a:ea typeface="+mn-lt"/>
                <a:cs typeface="+mn-lt"/>
              </a:rPr>
              <a:t>Выполнил студент 2022-ФГиИБ-ПИ-1Б</a:t>
            </a:r>
            <a:endParaRPr lang="ru-RU" sz="6400" dirty="0">
              <a:latin typeface="Times New Roman" panose="02020603050405020304"/>
              <a:cs typeface="Times New Roman" panose="02020603050405020304"/>
            </a:endParaRPr>
          </a:p>
          <a:p>
            <a:pPr algn="r"/>
            <a:r>
              <a:rPr lang="ru-RU" sz="6400" dirty="0" smtClean="0">
                <a:latin typeface="Times New Roman" panose="02020603050405020304"/>
                <a:cs typeface="Times New Roman" panose="02020603050405020304"/>
              </a:rPr>
              <a:t>Сундуков Алексей Андреевич</a:t>
            </a:r>
          </a:p>
          <a:p>
            <a:pPr algn="r"/>
            <a:endParaRPr lang="ru-RU"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839" y="1471220"/>
            <a:ext cx="11874673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ru-RU" dirty="0">
                <a:latin typeface="Times New Roman" panose="02020603050405020304" charset="0"/>
                <a:cs typeface="Times New Roman" panose="02020603050405020304" charset="0"/>
              </a:rPr>
              <a:t>Факультет геоинформатики и информационной безопасности</a:t>
            </a:r>
          </a:p>
          <a:p>
            <a:pPr algn="ctr"/>
            <a:r>
              <a:rPr lang="ru-RU" sz="2000" dirty="0">
                <a:latin typeface="Times New Roman" panose="02020603050405020304" charset="0"/>
                <a:cs typeface="Times New Roman" panose="02020603050405020304" charset="0"/>
              </a:rPr>
              <a:t>Кафедра информатики и геоинформационных технологий</a:t>
            </a:r>
          </a:p>
          <a:p>
            <a:pPr algn="ctr"/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ru-RU" sz="2000" b="1" dirty="0">
                <a:latin typeface="Times New Roman" panose="02020603050405020304" charset="0"/>
                <a:cs typeface="Times New Roman" panose="02020603050405020304" charset="0"/>
              </a:rPr>
              <a:t>ВЫПУСКНАЯ КВАЛИФИКАЦИОННАЯ РАБОТА</a:t>
            </a:r>
          </a:p>
          <a:p>
            <a:pPr algn="ctr"/>
            <a:endParaRPr lang="ru-RU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ru-RU" dirty="0">
                <a:latin typeface="Times New Roman" panose="02020603050405020304" charset="0"/>
                <a:cs typeface="Times New Roman" panose="02020603050405020304" charset="0"/>
              </a:rPr>
              <a:t>на тему: </a:t>
            </a:r>
            <a:r>
              <a:rPr lang="ru-RU" b="1" dirty="0" smtClean="0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ru-RU" b="1" dirty="0" smtClean="0">
                <a:latin typeface="Times New Roman" panose="02020603050405020304" charset="0"/>
                <a:cs typeface="Times New Roman" panose="02020603050405020304" charset="0"/>
              </a:rPr>
              <a:t>Разработка </a:t>
            </a:r>
            <a:r>
              <a:rPr lang="ru-RU" b="1" dirty="0">
                <a:latin typeface="Times New Roman" panose="02020603050405020304" charset="0"/>
                <a:cs typeface="Times New Roman" panose="02020603050405020304" charset="0"/>
              </a:rPr>
              <a:t>настольного приложения для симуляции влияния аэродинамических модификаций кузова автомобиля на его скоростные характеристики»</a:t>
            </a:r>
            <a:r>
              <a:rPr lang="ru-RU" b="1" dirty="0">
                <a:latin typeface="Times New Roman" panose="02020603050405020304" charset="0"/>
                <a:cs typeface="Times New Roman" panose="02020603050405020304" charset="0"/>
              </a:rPr>
              <a:t>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52890" y="6386989"/>
            <a:ext cx="28423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ru-RU" sz="1600" dirty="0">
                <a:latin typeface="Times New Roman" panose="02020603050405020304"/>
                <a:cs typeface="Times New Roman" panose="02020603050405020304"/>
              </a:rPr>
              <a:t>Москва,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10" y="1"/>
            <a:ext cx="12192000" cy="10287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/>
                <a:cs typeface="Times New Roman" panose="02020603050405020304"/>
              </a:rPr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2713" y="1525132"/>
            <a:ext cx="11773593" cy="45704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1000" dirty="0">
                <a:latin typeface="Times New Roman" panose="02020603050405020304"/>
                <a:ea typeface="+mn-lt"/>
                <a:cs typeface="+mn-lt"/>
              </a:rPr>
              <a:t>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 обусловлена высоким интересом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 автомобилям среди населения.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Сегодня студенты и обычные автолюбители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имеют доступного инструмента, позволяющего наглядно и быстро оценить, как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спойлер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диффузор влияют на аэродинамику и динамику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автомобиля. Профессиональные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CFD-системы (ANSYS,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OpenFOAM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слишком сложные 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дорогие, 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учебные симуляторы —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неинтерактивные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не учитывают реальное влияние на скорость.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Наш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заполняет этот пробел: офлайн-приложение с ML-моделью, работающее за секунды, а не часы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89162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/>
                <a:ea typeface="+mj-lt"/>
                <a:cs typeface="+mj-lt"/>
              </a:rPr>
              <a:t>Цель </a:t>
            </a:r>
            <a:r>
              <a:rPr lang="ru-RU" dirty="0">
                <a:latin typeface="Times New Roman" panose="02020603050405020304"/>
                <a:ea typeface="+mj-lt"/>
                <a:cs typeface="+mj-lt"/>
              </a:rPr>
              <a:t>и задачи</a:t>
            </a:r>
            <a:endParaRPr lang="ru-RU" dirty="0"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67" y="1089163"/>
            <a:ext cx="1110580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/>
                <a:cs typeface="Times New Roman" panose="02020603050405020304"/>
              </a:rPr>
              <a:t>Цель</a:t>
            </a:r>
            <a:r>
              <a:rPr lang="ru-RU" sz="2400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десктопное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приложение для учебной симуляции влияния аэродинамических модификаций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спойлеров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диффузоров) на скоростные характеристики автомобиля.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24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/>
                <a:cs typeface="Times New Roman" panose="02020603050405020304"/>
              </a:rPr>
              <a:t>Задачи</a:t>
            </a:r>
            <a:r>
              <a:rPr lang="ru-RU" sz="2400" dirty="0">
                <a:latin typeface="Times New Roman" panose="02020603050405020304"/>
                <a:cs typeface="Times New Roman" panose="02020603050405020304"/>
              </a:rPr>
              <a:t>:</a:t>
            </a: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Провести сравнительный анализ существующих решений и выявить их </a:t>
            </a:r>
            <a:r>
              <a:rPr lang="ru-RU" sz="2400" dirty="0" smtClean="0">
                <a:latin typeface="Times New Roman" panose="02020603050405020304"/>
                <a:ea typeface="+mn-lt"/>
                <a:cs typeface="+mn-lt"/>
              </a:rPr>
              <a:t>недостатки</a:t>
            </a:r>
            <a:endParaRPr lang="en-US" sz="2400" dirty="0" smtClean="0">
              <a:latin typeface="Times New Roman" panose="02020603050405020304"/>
              <a:ea typeface="+mn-lt"/>
              <a:cs typeface="+mn-lt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Спроектировать архитектуру системы и структуру базы </a:t>
            </a:r>
            <a:r>
              <a:rPr lang="ru-RU" sz="2400" dirty="0" smtClean="0">
                <a:latin typeface="Times New Roman" panose="02020603050405020304"/>
                <a:ea typeface="+mn-lt"/>
                <a:cs typeface="+mn-lt"/>
              </a:rPr>
              <a:t>данных</a:t>
            </a:r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Обучить </a:t>
            </a:r>
            <a:r>
              <a:rPr lang="ru-RU" sz="2400" dirty="0" err="1">
                <a:latin typeface="Times New Roman" panose="02020603050405020304"/>
                <a:ea typeface="+mn-lt"/>
                <a:cs typeface="+mn-lt"/>
              </a:rPr>
              <a:t>нейросетевую</a:t>
            </a: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 модель на открытом </a:t>
            </a:r>
            <a:r>
              <a:rPr lang="ru-RU" sz="2400" dirty="0" err="1">
                <a:latin typeface="Times New Roman" panose="02020603050405020304"/>
                <a:ea typeface="+mn-lt"/>
                <a:cs typeface="+mn-lt"/>
              </a:rPr>
              <a:t>датасете</a:t>
            </a: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ru-RU" sz="2400" dirty="0" err="1">
                <a:latin typeface="Times New Roman" panose="02020603050405020304"/>
                <a:ea typeface="+mn-lt"/>
                <a:cs typeface="+mn-lt"/>
              </a:rPr>
              <a:t>DrivAerML</a:t>
            </a:r>
            <a:endParaRPr lang="en-US" sz="2400" dirty="0" smtClean="0">
              <a:latin typeface="Times New Roman" panose="02020603050405020304"/>
              <a:ea typeface="+mn-lt"/>
              <a:cs typeface="+mn-lt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Реализовать </a:t>
            </a:r>
            <a:r>
              <a:rPr lang="ru-RU" sz="2400" dirty="0" err="1">
                <a:latin typeface="Times New Roman" panose="02020603050405020304"/>
                <a:ea typeface="+mn-lt"/>
                <a:cs typeface="+mn-lt"/>
              </a:rPr>
              <a:t>десктопное</a:t>
            </a: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 приложение с 3D-визуализацией и </a:t>
            </a:r>
            <a:r>
              <a:rPr lang="ru-RU" sz="2400" dirty="0" smtClean="0">
                <a:latin typeface="Times New Roman" panose="02020603050405020304"/>
                <a:ea typeface="+mn-lt"/>
                <a:cs typeface="+mn-lt"/>
              </a:rPr>
              <a:t>интерфейсом</a:t>
            </a:r>
            <a:endParaRPr lang="en-US" sz="2400" dirty="0" smtClean="0">
              <a:latin typeface="Times New Roman" panose="02020603050405020304"/>
              <a:ea typeface="+mn-lt"/>
              <a:cs typeface="+mn-lt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37909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Сравнение аналогов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8610600" y="6393986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ea typeface="+mn-lt"/>
                <a:cs typeface="+mn-lt"/>
              </a:rPr>
              <a:t> </a:t>
            </a:r>
            <a:endParaRPr lang="ru-RU" dirty="0">
              <a:latin typeface="Times New Roman" panose="02020603050405020304"/>
              <a:ea typeface="+mn-lt"/>
              <a:cs typeface="+mn-lt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6248" y="721882"/>
            <a:ext cx="749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000" dirty="0">
                <a:latin typeface="Times New Roman" panose="02020603050405020304" charset="0"/>
                <a:cs typeface="Times New Roman" panose="02020603050405020304" charset="0"/>
              </a:rPr>
              <a:t>Таблица 1. Сравнительный анализ</a:t>
            </a:r>
            <a:endParaRPr lang="ru-RU" altLang="en-US" sz="20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958222"/>
              </p:ext>
            </p:extLst>
          </p:nvPr>
        </p:nvGraphicFramePr>
        <p:xfrm>
          <a:off x="1589313" y="1123580"/>
          <a:ext cx="9013374" cy="433610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95503"/>
                <a:gridCol w="1485900"/>
                <a:gridCol w="1435100"/>
                <a:gridCol w="992413"/>
                <a:gridCol w="1502229"/>
                <a:gridCol w="1502229"/>
              </a:tblGrid>
              <a:tr h="1433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ANSYS Fluent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OpenFOAM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SimScale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DrivAer Online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Aerolab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8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Интерактивное изменение геометрии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5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Установка аэродинамических элементов (спойлеры и др.)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8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Готовая библиотека автомобилей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 без интернета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8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Простота интерфейса (для студентов)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расчёта (реальное время)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учебных сценариев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Экспорт отчёта (PDF)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2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Демонстрация влияния модификаций на скорость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416248" y="5465847"/>
            <a:ext cx="119408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функция реализована полноценно, интуитивно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ru-RU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ru-RU" alt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 функция есть, но ограничена или требует настройки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709238" y="5934425"/>
            <a:ext cx="6376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alt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функция отсутствует или недоступна без глубоких знаний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525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8"/>
            <a:ext cx="12192000" cy="1046434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/>
                <a:ea typeface="+mj-lt"/>
                <a:cs typeface="+mj-lt"/>
              </a:rPr>
              <a:t>Используемые технологии</a:t>
            </a:r>
            <a:endParaRPr lang="ru-RU" dirty="0">
              <a:latin typeface="Times New Roman" panose="02020603050405020304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5267692"/>
              </p:ext>
            </p:extLst>
          </p:nvPr>
        </p:nvGraphicFramePr>
        <p:xfrm>
          <a:off x="444497" y="1414781"/>
          <a:ext cx="11315702" cy="38404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7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578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0839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1800" b="1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</a:t>
                      </a:r>
                      <a:endParaRPr lang="ru-RU" sz="1800" b="1" i="0" u="none" strike="noStrike" noProof="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79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Используемая технология</a:t>
                      </a:r>
                    </a:p>
                  </a:txBody>
                  <a:tcPr marT="182879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0839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1800" b="0" i="0" u="none" strike="noStrike" noProof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</a:t>
                      </a:r>
                      <a:r>
                        <a:rPr lang="ru-RU" sz="1800" b="0" i="0" u="none" strike="noStrike" baseline="0" noProof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программирование</a:t>
                      </a:r>
                      <a:endParaRPr lang="ru-RU" sz="1800" b="1" i="0" u="none" strike="noStrike" noProof="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79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79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831690621"/>
                  </a:ext>
                </a:extLst>
              </a:tr>
              <a:tr h="60839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Графически</a:t>
                      </a:r>
                      <a:r>
                        <a:rPr lang="ru-RU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 интерфейс </a:t>
                      </a:r>
                      <a:endParaRPr lang="ru-RU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79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PyQt6</a:t>
                      </a:r>
                      <a:endParaRPr lang="ru-RU" sz="1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79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0839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-визуализация</a:t>
                      </a:r>
                      <a:endParaRPr lang="ru-RU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79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PyVista</a:t>
                      </a:r>
                      <a:endParaRPr lang="ru-RU" sz="1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79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08393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</a:t>
                      </a:r>
                      <a:endParaRPr lang="ru-RU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79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Studio/Visual Studio Code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80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8393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Машинное</a:t>
                      </a:r>
                      <a:r>
                        <a:rPr lang="ru-RU" sz="18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обучение</a:t>
                      </a:r>
                      <a:endParaRPr lang="ru-RU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79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-learn + </a:t>
                      </a: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joblib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82880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53268" y="1030577"/>
            <a:ext cx="8016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Таблица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sz="2000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ru-RU" altLang="en-US" sz="2000" dirty="0">
                <a:latin typeface="Times New Roman" panose="02020603050405020304" charset="0"/>
                <a:cs typeface="Times New Roman" panose="02020603050405020304" charset="0"/>
              </a:rPr>
              <a:t>Перечень используемых инструментов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4033"/>
            <a:ext cx="12191999" cy="967217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/>
                <a:cs typeface="Times New Roman" panose="02020603050405020304"/>
              </a:rPr>
              <a:t>Диаграмма вариантов </a:t>
            </a:r>
            <a:br>
              <a:rPr lang="ru-RU" dirty="0">
                <a:latin typeface="Times New Roman" panose="02020603050405020304"/>
                <a:cs typeface="Times New Roman" panose="02020603050405020304"/>
              </a:rPr>
            </a:br>
            <a:r>
              <a:rPr lang="ru-RU" dirty="0">
                <a:latin typeface="Times New Roman" panose="02020603050405020304"/>
                <a:cs typeface="Times New Roman" panose="02020603050405020304"/>
              </a:rPr>
              <a:t>использования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801865" y="6281781"/>
            <a:ext cx="593124" cy="365125"/>
          </a:xfrm>
        </p:spPr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39257" y="5991225"/>
            <a:ext cx="531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 – Диаграмма вариантов использования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049" y="999786"/>
            <a:ext cx="5391902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8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77900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/>
                <a:ea typeface="+mj-lt"/>
                <a:cs typeface="+mj-lt"/>
              </a:rPr>
              <a:t>     Диаграмма </a:t>
            </a:r>
            <a:r>
              <a:rPr lang="ru-RU" dirty="0" smtClean="0">
                <a:latin typeface="Times New Roman" panose="02020603050405020304"/>
                <a:ea typeface="+mj-lt"/>
                <a:cs typeface="+mj-lt"/>
              </a:rPr>
              <a:t>последовательности</a:t>
            </a:r>
            <a:endParaRPr lang="ru-RU" dirty="0">
              <a:latin typeface="Times New Roman" panose="02020603050405020304"/>
              <a:ea typeface="+mj-lt"/>
              <a:cs typeface="+mj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0760676" y="6291263"/>
            <a:ext cx="593124" cy="365125"/>
          </a:xfrm>
        </p:spPr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65500" y="6126867"/>
            <a:ext cx="468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2 – Диаграмма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933450"/>
            <a:ext cx="1131570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4758"/>
            <a:ext cx="12191999" cy="967217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/>
                <a:cs typeface="Times New Roman" panose="02020603050405020304"/>
              </a:rPr>
              <a:t>Диаграмма классов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7051" y="6434733"/>
            <a:ext cx="423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3 – Диаграмма классов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801865" y="6281781"/>
            <a:ext cx="593124" cy="365125"/>
          </a:xfrm>
        </p:spPr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672" y="737878"/>
            <a:ext cx="6430649" cy="55439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3952"/>
            <a:ext cx="12191999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4758"/>
            <a:ext cx="12191999" cy="967217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/>
                <a:cs typeface="Times New Roman" panose="02020603050405020304"/>
              </a:rPr>
              <a:t>Макет приложения</a:t>
            </a:r>
            <a:endParaRPr lang="ru-RU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801865" y="6281781"/>
            <a:ext cx="593124" cy="365125"/>
          </a:xfrm>
        </p:spPr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5819" y="6315579"/>
            <a:ext cx="423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 приложения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240" y="812800"/>
            <a:ext cx="10078187" cy="55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1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3952"/>
            <a:ext cx="12191999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4758"/>
            <a:ext cx="12191999" cy="967217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/>
                <a:cs typeface="Times New Roman" panose="02020603050405020304"/>
              </a:rPr>
              <a:t>Макет приложения</a:t>
            </a:r>
            <a:endParaRPr lang="ru-RU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801865" y="6281781"/>
            <a:ext cx="593124" cy="365125"/>
          </a:xfrm>
        </p:spPr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5819" y="6315579"/>
            <a:ext cx="423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 приложения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86" y="1006411"/>
            <a:ext cx="5039428" cy="33151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157" y="1006411"/>
            <a:ext cx="3477110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31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41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charset="0"/>
                <a:ea typeface="+mj-lt"/>
                <a:cs typeface="Times New Roman" panose="02020603050405020304" charset="0"/>
              </a:rPr>
              <a:t>Перспективы развития</a:t>
            </a:r>
            <a:endParaRPr lang="ru-RU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739839"/>
            <a:ext cx="10972800" cy="38355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пользовательских 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на электромобили 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энергоэффективность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Публикация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CFD для гибридного расчёта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48700" y="6261100"/>
            <a:ext cx="2743200" cy="365125"/>
          </a:xfrm>
        </p:spPr>
        <p:txBody>
          <a:bodyPr/>
          <a:lstStyle/>
          <a:p>
            <a:fld id="{285DC19C-03DA-4066-9FF7-D0BF1BC6D6F6}" type="slidenum">
              <a:rPr lang="ru-RU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22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/>
                <a:ea typeface="+mj-lt"/>
                <a:cs typeface="+mj-lt"/>
              </a:rPr>
              <a:t>Заключение</a:t>
            </a:r>
            <a:endParaRPr lang="ru-RU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2388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были выполнены все поставленные задачи:</a:t>
            </a: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Провести сравнительный анализ существующих решений и выявить их недостатки</a:t>
            </a:r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Спроектировать архитектуру системы и структуру базы данных</a:t>
            </a:r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Обучить </a:t>
            </a:r>
            <a:r>
              <a:rPr lang="ru-RU" sz="2400" dirty="0" err="1">
                <a:latin typeface="Times New Roman" panose="02020603050405020304"/>
                <a:ea typeface="+mn-lt"/>
                <a:cs typeface="+mn-lt"/>
              </a:rPr>
              <a:t>нейросетевую</a:t>
            </a: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 модель на открытом </a:t>
            </a:r>
            <a:r>
              <a:rPr lang="ru-RU" sz="2400" dirty="0" err="1">
                <a:latin typeface="Times New Roman" panose="02020603050405020304"/>
                <a:ea typeface="+mn-lt"/>
                <a:cs typeface="+mn-lt"/>
              </a:rPr>
              <a:t>датасете</a:t>
            </a: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 </a:t>
            </a:r>
            <a:r>
              <a:rPr lang="ru-RU" sz="2400" dirty="0" err="1">
                <a:latin typeface="Times New Roman" panose="02020603050405020304"/>
                <a:ea typeface="+mn-lt"/>
                <a:cs typeface="+mn-lt"/>
              </a:rPr>
              <a:t>DrivAerML</a:t>
            </a:r>
            <a:endParaRPr lang="en-US" sz="2400" dirty="0">
              <a:latin typeface="Times New Roman" panose="02020603050405020304"/>
              <a:ea typeface="+mn-lt"/>
              <a:cs typeface="+mn-lt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Реализовать </a:t>
            </a:r>
            <a:r>
              <a:rPr lang="ru-RU" sz="2400" dirty="0" err="1">
                <a:latin typeface="Times New Roman" panose="02020603050405020304"/>
                <a:ea typeface="+mn-lt"/>
                <a:cs typeface="+mn-lt"/>
              </a:rPr>
              <a:t>десктопное</a:t>
            </a:r>
            <a:r>
              <a:rPr lang="ru-RU" sz="2400" dirty="0">
                <a:latin typeface="Times New Roman" panose="02020603050405020304"/>
                <a:ea typeface="+mn-lt"/>
                <a:cs typeface="+mn-lt"/>
              </a:rPr>
              <a:t> приложение с 3D-визуализацией и </a:t>
            </a:r>
            <a:r>
              <a:rPr lang="ru-RU" sz="2400" dirty="0" smtClean="0">
                <a:latin typeface="Times New Roman" panose="02020603050405020304"/>
                <a:ea typeface="+mn-lt"/>
                <a:cs typeface="+mn-lt"/>
              </a:rPr>
              <a:t>интерфейсом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ходе выполнения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дипломной работы была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полноценная система для учебной симуляции аэродинамических модификаций автомобиля, сочетающая простоту использования, инженерную достоверность и интерактивность в реальном времени.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284912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285DC19C-03DA-4066-9FF7-D0BF1BC6D6F6}" type="slidenum"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011" cy="8957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717589"/>
            <a:ext cx="12192000" cy="2458995"/>
          </a:xfrm>
        </p:spPr>
        <p:txBody>
          <a:bodyPr>
            <a:normAutofit/>
          </a:bodyPr>
          <a:lstStyle/>
          <a:p>
            <a:pPr algn="ctr"/>
            <a:r>
              <a:rPr lang="ru-RU" sz="8000" dirty="0"/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375</Words>
  <Application>Microsoft Office PowerPoint</Application>
  <PresentationFormat>Широкоэкранный</PresentationFormat>
  <Paragraphs>147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Тема Office</vt:lpstr>
      <vt:lpstr>МИНИСТЕРСТВО НАУКИ И ВЫСШЕГО ОБРАЗОВАНИЯ РОССИЙСКОЙ ФЕДЕРАЦИИ   МОСКОВСКИЙ ГОСУДАРСТВЕННЫЙ УНИВЕРСИТЕТ ГЕОДЕЗИИ И КАРТОГРАФИИ (МИИГАИК)</vt:lpstr>
      <vt:lpstr>Актуальность</vt:lpstr>
      <vt:lpstr>Цель и задачи</vt:lpstr>
      <vt:lpstr>Сравнение аналогов</vt:lpstr>
      <vt:lpstr>Используемые технологии</vt:lpstr>
      <vt:lpstr>Диаграмма вариантов  использования</vt:lpstr>
      <vt:lpstr>     Диаграмма последовательности</vt:lpstr>
      <vt:lpstr>Диаграмма классов</vt:lpstr>
      <vt:lpstr>Макет приложения</vt:lpstr>
      <vt:lpstr>Макет приложения</vt:lpstr>
      <vt:lpstr>Перспективы развития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РОССИЙСКОЙ ФЕДЕРАЦИИ   МОСКОВСКИЙ ГОСУДАРСТВЕННЫЙ УНИВЕРСИТЕТ ГЕОДЕЗИИ И КАРТОГРАФИИ (МИИГАИК)</dc:title>
  <dc:creator>Fire Owl</dc:creator>
  <cp:lastModifiedBy>Учетная запись Майкрософт</cp:lastModifiedBy>
  <cp:revision>52</cp:revision>
  <dcterms:created xsi:type="dcterms:W3CDTF">2025-12-17T07:13:38Z</dcterms:created>
  <dcterms:modified xsi:type="dcterms:W3CDTF">2025-12-23T14:30:57Z</dcterms:modified>
</cp:coreProperties>
</file>