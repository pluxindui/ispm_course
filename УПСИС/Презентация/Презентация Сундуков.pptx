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318" r:id="rId7"/>
    <p:sldId id="275" r:id="rId8"/>
    <p:sldId id="262" r:id="rId9"/>
    <p:sldId id="321" r:id="rId10"/>
    <p:sldId id="323" r:id="rId11"/>
    <p:sldId id="267" r:id="rId12"/>
    <p:sldId id="268" r:id="rId13"/>
    <p:sldId id="311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5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F649A8-3ADF-4919-BCDF-FC2B8C6D828D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65D01-C0EA-4AC7-9B3B-E0E027DD3D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9375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DAC318-8254-46BA-A728-CE0D5CF132E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9350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10E1F35-929D-765C-467A-4EB9C76F5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E474665B-C0FE-7AD0-3001-5D5CE00B6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4E811377-9B6C-0621-C336-A07656D4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1D9DF1C5-15B5-3BED-A5A6-897E29EDE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DD2253FB-F2D2-4556-2549-707131B17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956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73E3589C-E88D-5415-008A-BAD82F5E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087F7949-12AE-C460-548B-5416E36E5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EA2E037B-AC54-CBCA-07A2-466171EA7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84900144-6504-A1C1-0CE8-BA6058A1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386F3982-C7AC-F6CA-9A6E-388C9C10C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0308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ACF6A5DD-A6E9-AA23-84B0-0CE55FAED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475D2D1A-15CC-5616-E7EA-36730B1856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7A55851A-529A-125A-406C-69FA540E4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2CBFCC96-A979-6E9E-AF83-5D34FD1C8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7F8B0D22-E9DF-B5B3-E6EB-1B0D51420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638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E41B6845-1F19-D333-FFEE-8C6E666D4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7E251E57-5DB3-E4C0-FA5E-4BCE3E767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EED838BE-D638-83E0-FE89-130BEAA1B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7850B08E-CCAA-B23D-75EE-8B4988038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B582C391-7EC4-3C50-5FB4-206AC91F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AB199268-E9E0-7F4B-7408-622EABC99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079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2F2796DC-6363-DD7D-85D5-3D5224ADD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A72377E9-E934-2755-B697-A61684ABE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0CB6FE72-480B-064E-924C-C7A001F5D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4C464E76-7015-B4B1-BBF3-F10FAFA6D8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xmlns="" id="{541AFABB-E161-F61F-A497-38C38414B2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xmlns="" id="{36ADD54E-A2A6-AF63-3CDF-0C4C834C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xmlns="" id="{AFC061BD-3AEA-E6B7-A8D9-FF8BA849A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xmlns="" id="{4F5EA164-1A57-8140-5C9A-4E695410B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1239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F897F25-E0BD-4CAD-FFBB-28FE0F73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xmlns="" id="{7D36750D-52D7-0527-B1EE-422224E5D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xmlns="" id="{B56D0125-5DDD-B249-3206-99A51CA3A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xmlns="" id="{36A090A2-27EB-8DB1-AAE2-868BE2C6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119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xmlns="" id="{F94AC1DA-48A2-1795-F55C-173ABC295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xmlns="" id="{3A13315E-43CD-0798-67F6-07FA54B46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ACF5A906-0A30-27B9-AE98-745B580B3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237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08BBD47-7EE7-3107-688E-0A036A7B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2C19A806-5008-DE6A-8A7B-E181228C3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64707038-0F9F-320A-FE75-91B6F9F804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4693B28E-0840-24FD-78BA-829BAAE76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4756E88D-2176-925A-DFCE-28E50201F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386B644E-E0C4-DAE2-DFF4-4EF50E6F7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6999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2F99E9D3-1D8F-3F17-6C3B-2CFAD5D76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xmlns="" id="{63567042-1BA2-6D2E-92D2-F12F4FED3D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1635B05F-FCAA-CD25-D29E-565EC37B6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84FAEC6E-E237-0743-FD54-F60775F25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DB6BA437-0BC0-2260-D389-5EB9BB082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BD90A50A-AC4D-BC6A-B8EE-644408568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01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5A4D1FBC-DCA3-8A45-5EA9-81D459445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xmlns="" id="{ADFE4B4A-1736-E23D-48AD-B56CB3A91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F23A1CFF-C4CA-8F77-7F55-3FA33946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AC1A4BA0-865B-258F-0C89-4CC550060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11205155-1B78-924A-9EF4-8D632F2E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2681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xmlns="" id="{F2C3D87B-7DDE-8736-2BFC-DC3C36C6D7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xmlns="" id="{69A7D597-AB26-FD20-696B-4E9058319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998279B1-ECE4-4437-DBB3-44A327344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FA17ECC4-0C89-4BC0-8D68-ED9308C59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5B3835DD-3440-F9F4-2F29-20F60192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486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7C02E22-4762-28A6-19B4-EABD3133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40C6122F-A985-01C4-F064-AEBCE5EE7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BA09FF9A-71B7-F89E-3EB0-7A47BBE93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2B72-092A-4920-97DB-E512F709D449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CF436BBA-7FB4-9D0B-3194-E9A2417BA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82A42B97-3479-004B-38B8-E59F96D295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9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93"/>
            <a:ext cx="12192000" cy="6858001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-2493"/>
            <a:ext cx="12192000" cy="1323219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/>
                <a:cs typeface="Times New Roman" panose="02020603050405020304"/>
              </a:rPr>
              <a:t>МИНИСТЕРСТВО</a:t>
            </a: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 НАУКИ И ВЫСШЕГО ОБРАЗОВАНИЯ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РОССИЙСКОЙ ФЕДЕРАЦИИ</a:t>
            </a:r>
            <a:br>
              <a:rPr lang="ru-RU" sz="2000" dirty="0">
                <a:latin typeface="Times New Roman" panose="02020603050405020304"/>
                <a:ea typeface="+mj-lt"/>
                <a:cs typeface="+mj-lt"/>
              </a:rPr>
            </a:b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 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МОСКОВСКИЙ ГОСУДАРСТВЕННЫЙ УНИВЕРСИТЕТ ГЕОДЕЗИИ И КАРТОГРАФИИ (МИИГАИК)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361709" y="4042064"/>
            <a:ext cx="6830291" cy="2067791"/>
          </a:xfrm>
        </p:spPr>
        <p:txBody>
          <a:bodyPr vert="horz" lIns="91440" tIns="45720" rIns="91440" bIns="45720" rtlCol="0" anchor="t">
            <a:normAutofit fontScale="25000" lnSpcReduction="20000"/>
          </a:bodyPr>
          <a:lstStyle/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Научный руководитель: 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преподаватель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кафедры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информати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ки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и 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геоинформационных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ru-RU" sz="6400" dirty="0">
                <a:latin typeface="Times New Roman"/>
                <a:ea typeface="Times New Roman"/>
                <a:cs typeface="Times New Roman"/>
                <a:sym typeface="Times New Roman"/>
              </a:rPr>
              <a:t>т</a:t>
            </a:r>
            <a:r>
              <a:rPr lang="en-US" sz="64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ехнологий</a:t>
            </a:r>
            <a:r>
              <a:rPr lang="ru-RU" sz="6400" dirty="0" smtClean="0">
                <a:latin typeface="Times New Roman"/>
                <a:ea typeface="Times New Roman"/>
                <a:cs typeface="Times New Roman"/>
                <a:sym typeface="Times New Roman"/>
              </a:rPr>
              <a:t>, кандидат технических наук</a:t>
            </a:r>
            <a:endParaRPr lang="en-US" sz="64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r"/>
            <a:r>
              <a:rPr lang="ru-RU" sz="6400" dirty="0" smtClean="0">
                <a:latin typeface="Times New Roman" panose="02020603050405020304"/>
                <a:cs typeface="Times New Roman" panose="02020603050405020304"/>
              </a:rPr>
              <a:t>Орлов Павел Юрьевич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Выполнил студент 2022-ФГиИБ-ПИ-1Б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 smtClean="0">
                <a:latin typeface="Times New Roman" panose="02020603050405020304"/>
                <a:cs typeface="Times New Roman" panose="02020603050405020304"/>
              </a:rPr>
              <a:t>Сундуков Алексей Андреевич</a:t>
            </a:r>
          </a:p>
          <a:p>
            <a:pPr algn="r"/>
            <a:endParaRPr lang="ru-RU" sz="18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2839" y="1471220"/>
            <a:ext cx="11874673" cy="243143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dirty="0">
                <a:latin typeface="Times New Roman" panose="02020603050405020304" charset="0"/>
                <a:cs typeface="Times New Roman" panose="02020603050405020304" charset="0"/>
              </a:rPr>
              <a:t>Факультет геоинформатики и информационной безопасности</a:t>
            </a:r>
          </a:p>
          <a:p>
            <a:pPr algn="ctr"/>
            <a:r>
              <a:rPr lang="ru-RU" sz="2000" dirty="0">
                <a:latin typeface="Times New Roman" panose="02020603050405020304" charset="0"/>
                <a:cs typeface="Times New Roman" panose="02020603050405020304" charset="0"/>
              </a:rPr>
              <a:t>Кафедра информатики и геоинформационных технологий</a:t>
            </a: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sz="2000" b="1" dirty="0">
                <a:latin typeface="Times New Roman" panose="02020603050405020304" charset="0"/>
                <a:cs typeface="Times New Roman" panose="02020603050405020304" charset="0"/>
              </a:rPr>
              <a:t>ВЫПУСКНАЯ КВАЛИФИКАЦИОННАЯ РАБОТА</a:t>
            </a:r>
          </a:p>
          <a:p>
            <a:pPr algn="ctr"/>
            <a:endParaRPr lang="ru-RU" b="1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dirty="0">
                <a:latin typeface="Times New Roman" panose="02020603050405020304" charset="0"/>
                <a:cs typeface="Times New Roman" panose="02020603050405020304" charset="0"/>
              </a:rPr>
              <a:t>на тему: </a:t>
            </a:r>
            <a:r>
              <a:rPr lang="ru-RU" b="1" dirty="0" smtClean="0">
                <a:latin typeface="Times New Roman" panose="02020603050405020304" charset="0"/>
                <a:cs typeface="Times New Roman" panose="02020603050405020304" charset="0"/>
              </a:rPr>
              <a:t>«Разработка </a:t>
            </a:r>
            <a:r>
              <a:rPr lang="ru-RU" b="1" dirty="0">
                <a:latin typeface="Times New Roman" panose="02020603050405020304" charset="0"/>
                <a:cs typeface="Times New Roman" panose="02020603050405020304" charset="0"/>
              </a:rPr>
              <a:t>настольного приложения для симуляции влияния аэродинамических модификаций кузова автомобиля на его скоростные характеристики»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52890" y="6386989"/>
            <a:ext cx="284238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sz="1600" dirty="0">
                <a:latin typeface="Times New Roman" panose="02020603050405020304"/>
                <a:cs typeface="Times New Roman" panose="02020603050405020304"/>
              </a:rPr>
              <a:t>Москва, 2025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10" y="1"/>
            <a:ext cx="12192000" cy="10287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Актуальность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2713" y="1525132"/>
            <a:ext cx="11773593" cy="457044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sz="1000" dirty="0">
                <a:latin typeface="Times New Roman" panose="02020603050405020304"/>
                <a:ea typeface="+mn-lt"/>
                <a:cs typeface="+mn-lt"/>
              </a:rPr>
              <a:t>	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темы обусловлена высоким интересом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 автомобилям среди населения.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Сегодня студенты и обычные автолюбители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имеют доступного инструмента, позволяющего наглядно и быстро оценить, как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спойлер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или диффузор влияют на аэродинамику и динамику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автомобиля. Профессиональные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CFD-системы (ANSYS,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OpenFOAM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слишком сложные и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дорогие, а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учебные симуляторы —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неинтерактивные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не учитывают реальное влияние на скорость.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Наш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 заполняет этот пробел: офлайн-приложение с ML-моделью, работающее за секунды, а не часы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z="2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89162"/>
          </a:xfrm>
        </p:spPr>
        <p:txBody>
          <a:bodyPr/>
          <a:lstStyle/>
          <a:p>
            <a:pPr algn="ctr"/>
            <a:r>
              <a:rPr lang="ru-RU" dirty="0" smtClean="0">
                <a:latin typeface="Times New Roman" panose="02020603050405020304"/>
                <a:ea typeface="+mj-lt"/>
                <a:cs typeface="+mj-lt"/>
              </a:rPr>
              <a:t>Цель </a:t>
            </a:r>
            <a:r>
              <a:rPr lang="ru-RU" dirty="0">
                <a:latin typeface="Times New Roman" panose="02020603050405020304"/>
                <a:ea typeface="+mj-lt"/>
                <a:cs typeface="+mj-lt"/>
              </a:rPr>
              <a:t>и задачи</a:t>
            </a:r>
            <a:endParaRPr lang="ru-RU" dirty="0">
              <a:latin typeface="Times New Roman" panose="020206030504050203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28567" y="1089163"/>
            <a:ext cx="11105804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just"/>
            <a:r>
              <a:rPr lang="ru-RU" sz="2400" b="1" dirty="0">
                <a:latin typeface="Times New Roman" panose="02020603050405020304"/>
                <a:cs typeface="Times New Roman" panose="02020603050405020304"/>
              </a:rPr>
              <a:t>Цель</a:t>
            </a:r>
            <a:r>
              <a:rPr lang="ru-RU" sz="2400" dirty="0">
                <a:latin typeface="Times New Roman" panose="02020603050405020304"/>
                <a:cs typeface="Times New Roman" panose="02020603050405020304"/>
              </a:rPr>
              <a:t>: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десктопное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приложение для учебной симуляции влияния аэродинамических модификаций (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спойлеров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диффузоров) на скоростные характеристики автомобиля.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endParaRPr lang="ru-RU" sz="2400" dirty="0"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  <a:p>
            <a:pPr algn="just"/>
            <a:r>
              <a:rPr lang="ru-RU" sz="2400" b="1" dirty="0">
                <a:latin typeface="Times New Roman" panose="02020603050405020304"/>
                <a:cs typeface="Times New Roman" panose="02020603050405020304"/>
              </a:rPr>
              <a:t>Задачи</a:t>
            </a:r>
            <a:r>
              <a:rPr lang="ru-RU" sz="2400" dirty="0">
                <a:latin typeface="Times New Roman" panose="02020603050405020304"/>
                <a:cs typeface="Times New Roman" panose="02020603050405020304"/>
              </a:rPr>
              <a:t>: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Провести сравнительный анализ существующих решений и выявить их </a:t>
            </a:r>
            <a:r>
              <a:rPr lang="ru-RU" sz="2400" dirty="0" smtClean="0">
                <a:latin typeface="Times New Roman" panose="02020603050405020304"/>
                <a:ea typeface="+mn-lt"/>
                <a:cs typeface="+mn-lt"/>
              </a:rPr>
              <a:t>недостатки</a:t>
            </a:r>
            <a:endParaRPr lang="en-US" sz="2400" dirty="0" smtClean="0">
              <a:latin typeface="Times New Roman" panose="02020603050405020304"/>
              <a:ea typeface="+mn-lt"/>
              <a:cs typeface="+mn-lt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Спроектировать архитектуру системы и структуру базы </a:t>
            </a:r>
            <a:r>
              <a:rPr lang="ru-RU" sz="2400" dirty="0" smtClean="0">
                <a:latin typeface="Times New Roman" panose="02020603050405020304"/>
                <a:ea typeface="+mn-lt"/>
                <a:cs typeface="+mn-lt"/>
              </a:rPr>
              <a:t>данных</a:t>
            </a:r>
            <a:endParaRPr lang="en-US" sz="2400" dirty="0">
              <a:latin typeface="Times New Roman" panose="02020603050405020304"/>
              <a:ea typeface="+mn-lt"/>
              <a:cs typeface="+mn-lt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Обучить </a:t>
            </a:r>
            <a:r>
              <a:rPr lang="ru-RU" sz="2400" dirty="0" err="1">
                <a:latin typeface="Times New Roman" panose="02020603050405020304"/>
                <a:ea typeface="+mn-lt"/>
                <a:cs typeface="+mn-lt"/>
              </a:rPr>
              <a:t>нейросетевую</a:t>
            </a: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 модель на открытом </a:t>
            </a:r>
            <a:r>
              <a:rPr lang="ru-RU" sz="2400" dirty="0" err="1">
                <a:latin typeface="Times New Roman" panose="02020603050405020304"/>
                <a:ea typeface="+mn-lt"/>
                <a:cs typeface="+mn-lt"/>
              </a:rPr>
              <a:t>датасете</a:t>
            </a: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 </a:t>
            </a:r>
            <a:r>
              <a:rPr lang="ru-RU" sz="2400" dirty="0" err="1">
                <a:latin typeface="Times New Roman" panose="02020603050405020304"/>
                <a:ea typeface="+mn-lt"/>
                <a:cs typeface="+mn-lt"/>
              </a:rPr>
              <a:t>DrivAerML</a:t>
            </a:r>
            <a:endParaRPr lang="en-US" sz="2400" dirty="0" smtClean="0">
              <a:latin typeface="Times New Roman" panose="02020603050405020304"/>
              <a:ea typeface="+mn-lt"/>
              <a:cs typeface="+mn-lt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Реализовать </a:t>
            </a:r>
            <a:r>
              <a:rPr lang="ru-RU" sz="2400" dirty="0" err="1">
                <a:latin typeface="Times New Roman" panose="02020603050405020304"/>
                <a:ea typeface="+mn-lt"/>
                <a:cs typeface="+mn-lt"/>
              </a:rPr>
              <a:t>десктопное</a:t>
            </a: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 приложение с 3D-визуализацией и </a:t>
            </a:r>
            <a:r>
              <a:rPr lang="ru-RU" sz="2400" dirty="0" smtClean="0">
                <a:latin typeface="Times New Roman" panose="02020603050405020304"/>
                <a:ea typeface="+mn-lt"/>
                <a:cs typeface="+mn-lt"/>
              </a:rPr>
              <a:t>интерфейсом</a:t>
            </a:r>
            <a:endParaRPr lang="en-US" sz="2400" dirty="0" smtClean="0">
              <a:latin typeface="Times New Roman" panose="02020603050405020304"/>
              <a:ea typeface="+mn-lt"/>
              <a:cs typeface="+mn-lt"/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37909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charset="0"/>
                <a:ea typeface="+mj-lt"/>
                <a:cs typeface="Times New Roman" panose="02020603050405020304" charset="0"/>
              </a:rPr>
              <a:t>Сравнение аналогов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8610600" y="6393986"/>
            <a:ext cx="2743200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ea typeface="+mn-lt"/>
                <a:cs typeface="+mn-lt"/>
              </a:rPr>
              <a:t> </a:t>
            </a:r>
            <a:endParaRPr lang="ru-RU" dirty="0">
              <a:latin typeface="Times New Roman" panose="02020603050405020304"/>
              <a:ea typeface="+mn-lt"/>
              <a:cs typeface="+mn-lt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6248" y="721882"/>
            <a:ext cx="74943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Таблица 1. Сравнительный анализ</a:t>
            </a:r>
            <a:endParaRPr lang="ru-RU" altLang="en-US" sz="20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89092"/>
              </p:ext>
            </p:extLst>
          </p:nvPr>
        </p:nvGraphicFramePr>
        <p:xfrm>
          <a:off x="1589313" y="1123580"/>
          <a:ext cx="9013374" cy="4336108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2095503"/>
                <a:gridCol w="1485900"/>
                <a:gridCol w="1435100"/>
                <a:gridCol w="992413"/>
                <a:gridCol w="1502229"/>
                <a:gridCol w="1502229"/>
              </a:tblGrid>
              <a:tr h="14339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Функция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ANSYS Fluent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OpenFOAM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SimScale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DrivAer Online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Aerolab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785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Интерактивное изменение геометрии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357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Установка аэродинамических элементов (спойлеры и др.)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785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Готовая библиотека автомобилей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  <a:endParaRPr lang="ru-RU" sz="16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445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Работа без интернета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785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Простота интерфейса (для студентов)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Время расчёта (реальное время)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78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 учебных сценариев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  <a:endParaRPr lang="ru-RU" sz="16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445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Экспорт отчёта (PDF)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2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Демонстрация влияния модификаций на скорость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b="1" dirty="0"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Rectangle 2"/>
          <p:cNvSpPr>
            <a:spLocks noChangeArrowheads="1"/>
          </p:cNvSpPr>
          <p:nvPr/>
        </p:nvSpPr>
        <p:spPr bwMode="auto">
          <a:xfrm>
            <a:off x="416248" y="5465847"/>
            <a:ext cx="1194084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2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++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— функция реализована полноценно, интуитивно</a:t>
            </a:r>
            <a:endParaRPr kumimoji="0" lang="en-US" altLang="ru-RU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ru-RU" dirty="0" smtClean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altLang="ru-RU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+</a:t>
            </a:r>
            <a:r>
              <a:rPr lang="ru-RU" altLang="ru-RU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alt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— функция есть, но ограничена или требует настройки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altLang="ru-RU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2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2709238" y="5934425"/>
            <a:ext cx="63768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</a:t>
            </a:r>
            <a:r>
              <a:rPr lang="ru-RU" alt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— функция отсутствует или недоступна без глубоких знаний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525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8"/>
            <a:ext cx="12192000" cy="1046434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Используемые технологии</a:t>
            </a:r>
            <a:endParaRPr lang="ru-RU" dirty="0">
              <a:latin typeface="Times New Roman" panose="02020603050405020304"/>
            </a:endParaRP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5267692"/>
              </p:ext>
            </p:extLst>
          </p:nvPr>
        </p:nvGraphicFramePr>
        <p:xfrm>
          <a:off x="444497" y="1414781"/>
          <a:ext cx="11315702" cy="38404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5785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5657851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60839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ru-RU" sz="1800" b="1" u="none" strike="noStrike" noProof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Инструмент</a:t>
                      </a:r>
                      <a:endParaRPr lang="ru-RU" sz="1800" b="1" i="0" u="none" strike="noStrike" noProof="0" dirty="0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Используемая технология</a:t>
                      </a: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ru-RU" sz="1800" b="0" i="0" u="none" strike="noStrike" noProof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Язык</a:t>
                      </a:r>
                      <a:r>
                        <a:rPr lang="ru-RU" sz="1800" b="0" i="0" u="none" strike="noStrike" baseline="0" noProof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программирование</a:t>
                      </a:r>
                      <a:endParaRPr lang="ru-RU" sz="1800" b="1" i="0" u="none" strike="noStrike" noProof="0" dirty="0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</a:t>
                      </a:r>
                      <a:endParaRPr lang="ru-RU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831690621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Графически</a:t>
                      </a:r>
                      <a:r>
                        <a:rPr lang="ru-RU" sz="1800" b="0" baseline="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й интерфейс 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PyQt6</a:t>
                      </a:r>
                      <a:endParaRPr lang="ru-RU" sz="18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3D</a:t>
                      </a:r>
                      <a:r>
                        <a:rPr lang="ru-RU" sz="18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-визуализация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PyVista</a:t>
                      </a:r>
                      <a:endParaRPr lang="ru-RU" sz="18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608393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IDE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 Studio/Visual Studio Code</a:t>
                      </a:r>
                      <a:endParaRPr lang="ru-RU" sz="18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80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608393"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Машинное</a:t>
                      </a:r>
                      <a:r>
                        <a:rPr lang="ru-RU" sz="1800" b="0" baseline="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обучение</a:t>
                      </a:r>
                      <a:endParaRPr lang="ru-RU" sz="18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scikit</a:t>
                      </a:r>
                      <a:r>
                        <a:rPr lang="en-US" sz="180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-learn + </a:t>
                      </a:r>
                      <a:r>
                        <a:rPr lang="en-US" sz="1800" dirty="0" err="1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joblib</a:t>
                      </a:r>
                      <a:endParaRPr lang="en-US" sz="1800" dirty="0" smtClean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80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353268" y="1030577"/>
            <a:ext cx="80168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Times New Roman" panose="02020603050405020304" charset="0"/>
                <a:cs typeface="Times New Roman" panose="02020603050405020304" charset="0"/>
              </a:rPr>
              <a:t>Таблица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2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</a:rPr>
              <a:t>. </a:t>
            </a:r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Перечень используемых инструментов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34033"/>
            <a:ext cx="12191999" cy="967217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вариантов </a:t>
            </a:r>
            <a:br>
              <a:rPr lang="ru-RU" dirty="0">
                <a:latin typeface="Times New Roman" panose="02020603050405020304"/>
                <a:cs typeface="Times New Roman" panose="02020603050405020304"/>
              </a:rPr>
            </a:br>
            <a:r>
              <a:rPr lang="ru-RU" dirty="0">
                <a:latin typeface="Times New Roman" panose="02020603050405020304"/>
                <a:cs typeface="Times New Roman" panose="02020603050405020304"/>
              </a:rPr>
              <a:t>использования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39257" y="5991225"/>
            <a:ext cx="5313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 – Диаграмма вариантов использования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0049" y="999786"/>
            <a:ext cx="5391902" cy="485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0836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77900"/>
          </a:xfrm>
        </p:spPr>
        <p:txBody>
          <a:bodyPr/>
          <a:lstStyle/>
          <a:p>
            <a:pPr algn="ctr"/>
            <a:r>
              <a:rPr lang="ru-RU" dirty="0" smtClean="0">
                <a:latin typeface="Times New Roman" panose="02020603050405020304"/>
                <a:ea typeface="+mj-lt"/>
                <a:cs typeface="+mj-lt"/>
              </a:rPr>
              <a:t>     Диаграмма последовательности</a:t>
            </a:r>
            <a:endParaRPr lang="ru-RU" dirty="0">
              <a:latin typeface="Times New Roman" panose="02020603050405020304"/>
              <a:ea typeface="+mj-lt"/>
              <a:cs typeface="+mj-lt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10760676" y="6291263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65500" y="6126867"/>
            <a:ext cx="468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2 – Диаграмма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последовательности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" y="933450"/>
            <a:ext cx="11315700" cy="4991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классов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7051" y="6434733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AutoShape 2" descr="image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672" y="737878"/>
            <a:ext cx="6430649" cy="55439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3952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 smtClean="0">
                <a:latin typeface="Times New Roman" panose="02020603050405020304"/>
                <a:cs typeface="Times New Roman" panose="02020603050405020304"/>
              </a:rPr>
              <a:t>Макет приложения</a:t>
            </a:r>
            <a:endParaRPr lang="ru-RU" dirty="0">
              <a:latin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5819" y="6315579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Макет приложения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240" y="812800"/>
            <a:ext cx="10078187" cy="558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41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3952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 smtClean="0">
                <a:latin typeface="Times New Roman" panose="02020603050405020304"/>
                <a:cs typeface="Times New Roman" panose="02020603050405020304"/>
              </a:rPr>
              <a:t>Макет приложения</a:t>
            </a:r>
            <a:endParaRPr lang="ru-RU" dirty="0">
              <a:latin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5819" y="6315579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Макет приложения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86" y="1006411"/>
            <a:ext cx="5039428" cy="3315163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5157" y="1006411"/>
            <a:ext cx="3477110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7317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541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charset="0"/>
                <a:ea typeface="+mj-lt"/>
                <a:cs typeface="Times New Roman" panose="02020603050405020304" charset="0"/>
              </a:rPr>
              <a:t>Перспективы развития</a:t>
            </a:r>
            <a:endParaRPr lang="ru-RU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9600" y="1739839"/>
            <a:ext cx="10972800" cy="38355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Поддержка пользовательских 3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D-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моделей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Расширение на электромобили и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энергоэффективность</a:t>
            </a: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Публикация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open-source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инструмент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Интеграция с CFD для гибридного расчёта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48700" y="6261100"/>
            <a:ext cx="2743200" cy="365125"/>
          </a:xfrm>
        </p:spPr>
        <p:txBody>
          <a:bodyPr/>
          <a:lstStyle/>
          <a:p>
            <a:fld id="{285DC19C-03DA-4066-9FF7-D0BF1BC6D6F6}" type="slidenum">
              <a:rPr lang="ru-RU" sz="2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22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Заключение</a:t>
            </a:r>
            <a:endParaRPr lang="ru-RU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322388"/>
            <a:ext cx="10515600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 были выполнены все поставленные задачи: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Провести сравнительный анализ существующих решений и выявить их недостатки</a:t>
            </a:r>
            <a:endParaRPr lang="en-US" sz="2400" dirty="0">
              <a:latin typeface="Times New Roman" panose="02020603050405020304"/>
              <a:ea typeface="+mn-lt"/>
              <a:cs typeface="+mn-lt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Спроектировать архитектуру системы и структуру базы данных</a:t>
            </a:r>
            <a:endParaRPr lang="en-US" sz="2400" dirty="0">
              <a:latin typeface="Times New Roman" panose="02020603050405020304"/>
              <a:ea typeface="+mn-lt"/>
              <a:cs typeface="+mn-lt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Обучить </a:t>
            </a:r>
            <a:r>
              <a:rPr lang="ru-RU" sz="2400" dirty="0" err="1">
                <a:latin typeface="Times New Roman" panose="02020603050405020304"/>
                <a:ea typeface="+mn-lt"/>
                <a:cs typeface="+mn-lt"/>
              </a:rPr>
              <a:t>нейросетевую</a:t>
            </a: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 модель на открытом </a:t>
            </a:r>
            <a:r>
              <a:rPr lang="ru-RU" sz="2400" dirty="0" err="1">
                <a:latin typeface="Times New Roman" panose="02020603050405020304"/>
                <a:ea typeface="+mn-lt"/>
                <a:cs typeface="+mn-lt"/>
              </a:rPr>
              <a:t>датасете</a:t>
            </a: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 </a:t>
            </a:r>
            <a:r>
              <a:rPr lang="ru-RU" sz="2400" dirty="0" err="1">
                <a:latin typeface="Times New Roman" panose="02020603050405020304"/>
                <a:ea typeface="+mn-lt"/>
                <a:cs typeface="+mn-lt"/>
              </a:rPr>
              <a:t>DrivAerML</a:t>
            </a:r>
            <a:endParaRPr lang="en-US" sz="2400" dirty="0">
              <a:latin typeface="Times New Roman" panose="02020603050405020304"/>
              <a:ea typeface="+mn-lt"/>
              <a:cs typeface="+mn-lt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Реализовать </a:t>
            </a:r>
            <a:r>
              <a:rPr lang="ru-RU" sz="2400" dirty="0" err="1">
                <a:latin typeface="Times New Roman" panose="02020603050405020304"/>
                <a:ea typeface="+mn-lt"/>
                <a:cs typeface="+mn-lt"/>
              </a:rPr>
              <a:t>десктопное</a:t>
            </a: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 приложение с 3D-визуализацией и </a:t>
            </a:r>
            <a:r>
              <a:rPr lang="ru-RU" sz="2400" dirty="0" smtClean="0">
                <a:latin typeface="Times New Roman" panose="02020603050405020304"/>
                <a:ea typeface="+mn-lt"/>
                <a:cs typeface="+mn-lt"/>
              </a:rPr>
              <a:t>интерфейсом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В ходе выполнения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дипломной работы была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полноценная система для учебной симуляции аэродинамических модификаций автомобиля, сочетающая простоту использования, инженерную достоверность и интерактивность в реальном времени.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10600" y="6284912"/>
            <a:ext cx="2743200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717589"/>
            <a:ext cx="12192000" cy="2458995"/>
          </a:xfrm>
        </p:spPr>
        <p:txBody>
          <a:bodyPr>
            <a:normAutofit/>
          </a:bodyPr>
          <a:lstStyle/>
          <a:p>
            <a:pPr algn="ctr"/>
            <a:r>
              <a:rPr lang="ru-RU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375</Words>
  <Application>Microsoft Office PowerPoint</Application>
  <PresentationFormat>Широкоэкранный</PresentationFormat>
  <Paragraphs>147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Times New Roman</vt:lpstr>
      <vt:lpstr>Тема Office</vt:lpstr>
      <vt:lpstr>МИНИСТЕРСТВО НАУКИ И ВЫСШЕГО ОБРАЗОВАНИЯ РОССИЙСКОЙ ФЕДЕРАЦИИ   МОСКОВСКИЙ ГОСУДАРСТВЕННЫЙ УНИВЕРСИТЕТ ГЕОДЕЗИИ И КАРТОГРАФИИ (МИИГАИК)</vt:lpstr>
      <vt:lpstr>Актуальность</vt:lpstr>
      <vt:lpstr>Цель и задачи</vt:lpstr>
      <vt:lpstr>Сравнение аналогов</vt:lpstr>
      <vt:lpstr>Используемые технологии</vt:lpstr>
      <vt:lpstr>Диаграмма вариантов  использования</vt:lpstr>
      <vt:lpstr>     Диаграмма последовательности</vt:lpstr>
      <vt:lpstr>Диаграмма классов</vt:lpstr>
      <vt:lpstr>Макет приложения</vt:lpstr>
      <vt:lpstr>Макет приложения</vt:lpstr>
      <vt:lpstr>Перспективы развития</vt:lpstr>
      <vt:lpstr>Заключение</vt:lpstr>
      <vt:lpstr>Спасибо за внимание!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МИНИСТЕРСТВО НАУКИ И ВЫСШЕГО ОБРАЗОВАНИЯ РОССИЙСКОЙ ФЕДЕРАЦИИ   МОСКОВСКИЙ ГОСУДАРСТВЕННЫЙ УНИВЕРСИТЕТ ГЕОДЕЗИИ И КАРТОГРАФИИ (МИИГАИК)</dc:title>
  <dc:creator>Fire Owl</dc:creator>
  <cp:lastModifiedBy>Учетная запись Майкрософт</cp:lastModifiedBy>
  <cp:revision>54</cp:revision>
  <dcterms:created xsi:type="dcterms:W3CDTF">2025-12-17T07:13:38Z</dcterms:created>
  <dcterms:modified xsi:type="dcterms:W3CDTF">2025-12-23T17:52:15Z</dcterms:modified>
</cp:coreProperties>
</file>